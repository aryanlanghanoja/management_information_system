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dc30c4860_0_2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dc30c4860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dc30c4860_0_30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dc30c4860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dc30c4860_0_3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dc30c4860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dc30c4860_0_3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dc30c4860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dc30c4860_0_3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dc30c4860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dc30c4860_0_3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dc30c4860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dc30c4860_0_3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dc30c4860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dc30c4860_0_38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7dc30c4860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dc30c4860_0_38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dc30c4860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dc30c4860_0_3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7dc30c4860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273700" y="375675"/>
            <a:ext cx="5732400" cy="13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ERP Implementation: A Tale of Two Systems</a:t>
            </a:r>
            <a:endParaRPr b="1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273700" y="1953350"/>
            <a:ext cx="5568600" cy="29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Montserrat"/>
                <a:ea typeface="Montserrat"/>
                <a:cs typeface="Montserrat"/>
                <a:sym typeface="Montserrat"/>
              </a:rPr>
              <a:t>Department of Information and Communication Technology</a:t>
            </a:r>
            <a:endParaRPr b="1"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Montserrat"/>
                <a:ea typeface="Montserrat"/>
                <a:cs typeface="Montserrat"/>
                <a:sym typeface="Montserrat"/>
              </a:rPr>
              <a:t>Semester </a:t>
            </a: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:- 7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Montserrat"/>
                <a:ea typeface="Montserrat"/>
                <a:cs typeface="Montserrat"/>
                <a:sym typeface="Montserrat"/>
              </a:rPr>
              <a:t>Name </a:t>
            </a: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:- Aryan Dilipbhai Langhanoja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Montserrat"/>
                <a:ea typeface="Montserrat"/>
                <a:cs typeface="Montserrat"/>
                <a:sym typeface="Montserrat"/>
              </a:rPr>
              <a:t>Enrollment No</a:t>
            </a: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 :- 92200133030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Montserrat"/>
                <a:ea typeface="Montserrat"/>
                <a:cs typeface="Montserrat"/>
                <a:sym typeface="Montserrat"/>
              </a:rPr>
              <a:t>Subject </a:t>
            </a: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:- Management Information System (01CTO704)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Montserrat"/>
                <a:ea typeface="Montserrat"/>
                <a:cs typeface="Montserrat"/>
                <a:sym typeface="Montserrat"/>
              </a:rPr>
              <a:t>Faculty </a:t>
            </a: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:- Prof. Suhag Baldaniya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Montserrat"/>
                <a:ea typeface="Montserrat"/>
                <a:cs typeface="Montserrat"/>
                <a:sym typeface="Montserrat"/>
              </a:rPr>
              <a:t>Topic </a:t>
            </a:r>
            <a:r>
              <a:rPr lang="en" sz="1400">
                <a:latin typeface="Montserrat"/>
                <a:ea typeface="Montserrat"/>
                <a:cs typeface="Montserrat"/>
                <a:sym typeface="Montserrat"/>
              </a:rPr>
              <a:t>:- ERP Implementation – Success vs Failure (Case Study)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170050" y="228600"/>
            <a:ext cx="7333200" cy="7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Enterprise Resource Planning (ERP): The Digital Backbone</a:t>
            </a:r>
            <a:endParaRPr b="1" sz="2000"/>
          </a:p>
        </p:txBody>
      </p:sp>
      <p:sp>
        <p:nvSpPr>
          <p:cNvPr id="141" name="Google Shape;141;p14"/>
          <p:cNvSpPr/>
          <p:nvPr/>
        </p:nvSpPr>
        <p:spPr>
          <a:xfrm>
            <a:off x="1083950" y="1222100"/>
            <a:ext cx="7419300" cy="371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Is ERP ?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Definition: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An ERP is an integrated suite of business management software that a company can use to collect, store, manage, and interpret data from many business activities.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Core Idea: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One central database for all business processes.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Key Functions Integrated: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Finance &amp; Accounting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Human Resources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Manufacturing &amp; Supply Chain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Sales &amp; Marketing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Customer Relationship Management (CRM)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Goal: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To create a single source of truth and streamline processes across the entire organization.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127000" y="228600"/>
            <a:ext cx="7333200" cy="7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ERP as a Management Information System (MIS)</a:t>
            </a:r>
            <a:endParaRPr b="1" sz="2000"/>
          </a:p>
        </p:txBody>
      </p:sp>
      <p:sp>
        <p:nvSpPr>
          <p:cNvPr id="147" name="Google Shape;147;p15"/>
          <p:cNvSpPr/>
          <p:nvPr/>
        </p:nvSpPr>
        <p:spPr>
          <a:xfrm>
            <a:off x="1083950" y="1026000"/>
            <a:ext cx="7419300" cy="371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MIS Concepts &amp; Analysis in ERP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 ERP is the ultimate MIS, designed to transform raw data into actionable information for strategic decision-making.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to Decisions: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Captures transactional data (e.g., a single sale, inventory movement).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Information: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Processes data into context (e.g., daily sales reports, low-stock alerts).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Knowledge: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Analyzes information to reveal trends and insights (e.g., identifying best-selling products by region).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Decision-Making: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Empowers managers to make informed, data-driven decisions.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170050" y="228600"/>
            <a:ext cx="7333200" cy="7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"Astra Manufacturing" (A Representative Failure)</a:t>
            </a:r>
            <a:endParaRPr b="1" sz="2000"/>
          </a:p>
        </p:txBody>
      </p:sp>
      <p:sp>
        <p:nvSpPr>
          <p:cNvPr id="153" name="Google Shape;153;p16"/>
          <p:cNvSpPr/>
          <p:nvPr/>
        </p:nvSpPr>
        <p:spPr>
          <a:xfrm>
            <a:off x="1170050" y="1026000"/>
            <a:ext cx="7473900" cy="366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Case Study 1: The Failure - A Cautionary Tale in Indian Manufacturing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Company: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 mid-sized Indian auto-component manufacturer experiencing rapid growth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Goal: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Implement a low-cost ERP to manage growing operations and gain a competitive edge.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Problem: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The management treated ERP as a purely technical solution. The focus was on a fast and cheap rollout, without considering the business process changes required.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Approach: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 "Big Bang" implementation with a vendor chosen for the lowest price, not for their expertise in the manufacturing domain.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Result: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The project was a complete failure, exceeding timelines and budgets without delivering the expected benefits.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083950" y="228600"/>
            <a:ext cx="73332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Analysis of Failure: What Went Wrong?</a:t>
            </a:r>
            <a:endParaRPr b="1" sz="2000"/>
          </a:p>
        </p:txBody>
      </p:sp>
      <p:sp>
        <p:nvSpPr>
          <p:cNvPr id="159" name="Google Shape;159;p17"/>
          <p:cNvSpPr/>
          <p:nvPr/>
        </p:nvSpPr>
        <p:spPr>
          <a:xfrm>
            <a:off x="1083950" y="736800"/>
            <a:ext cx="7419300" cy="431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MIS Analysis: A Recipe for Disaster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Lack of Top Management Commitment: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Senior leadership delegated the project entirely to the IT department and were not involved in strategic decisions.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Poor Project Management: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The timeline was unrealistic, and the project scope was not clearly defined, leading to "scope creep."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Inadequate User Training &amp; Change Management: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Employees were not trained properly and resisted the new system, seeing it as a threat. They developed manual workarounds, making the ERP data unreliable.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Ignoring Business Process Re-engineering (BPR):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The company tried to customize the ERP to fit its old, inefficient processes instead of adopting industry best practices embedded in the ERP.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Impact:</a:t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Operations were disrupted, leading to production delays.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in the new system was inaccurate.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Employee morale plummeted, and the system was eventually abandoned, resulting in a massive financial loss.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170050" y="228600"/>
            <a:ext cx="73332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The Success - Tata Motors' "Project Drishti"</a:t>
            </a:r>
            <a:endParaRPr b="1" sz="2600"/>
          </a:p>
        </p:txBody>
      </p:sp>
      <p:sp>
        <p:nvSpPr>
          <p:cNvPr id="165" name="Google Shape;165;p18"/>
          <p:cNvSpPr/>
          <p:nvPr/>
        </p:nvSpPr>
        <p:spPr>
          <a:xfrm>
            <a:off x="1099700" y="939900"/>
            <a:ext cx="7473900" cy="3863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Case Study 2: Tata Motors Drives Success with SAP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Company: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Tata Motors, India's largest automobile company with complex, distributed operations.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Pre-ERP Problem: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real-time data was available between its various plants and offices. Information flow between sales, finance, and production was slow and cumbersome, leading to inefficiencies.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Goal: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To integrate all business units, streamline the supply chain, and create a single, unified view of the organization for faster decision-making.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ontserrat"/>
              <a:buChar char="●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Strategy: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 carefully planned, phased implementation of SAP ERP across the entire organization.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083950" y="228600"/>
            <a:ext cx="73332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Analysis of Success: What Went Right?</a:t>
            </a:r>
            <a:endParaRPr b="1" sz="2000"/>
          </a:p>
        </p:txBody>
      </p:sp>
      <p:sp>
        <p:nvSpPr>
          <p:cNvPr id="171" name="Google Shape;171;p19"/>
          <p:cNvSpPr/>
          <p:nvPr/>
        </p:nvSpPr>
        <p:spPr>
          <a:xfrm>
            <a:off x="1083950" y="736800"/>
            <a:ext cx="7419300" cy="431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MIS Analysis: A Blueprint for Success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Strong Leadership &amp; Vision: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Top management at Tata Motors championed the project and had a clear vision of achieving a single, integrated enterprise.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Phased Rollout: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The implementation was done in stages (from SAP 3.1H to 4.6C), which 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minimized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business disruption and allowed the team to learn and adapt. This was a direct contrast to a risky "Big Bang" approach.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Meticulous Planning &amp; Governance: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The project was outsourced to experts at Tata Technologies and SAP India, ensuring robust project management and technical expertise.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Focus on Collaboration: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The ERP was seen as a tool to improve collaboration between departments, suppliers, and dealers, not just an IT project.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Impact:</a:t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Improved production scheduling and reduced bottlenecks.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Real-time data availability for strategic decision support.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○"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Enhanced supplier collaboration and a more efficient supply chain.</a:t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083950" y="228600"/>
            <a:ext cx="73332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The ERP Implementation Success Framework</a:t>
            </a:r>
            <a:endParaRPr b="1" sz="2000"/>
          </a:p>
        </p:txBody>
      </p:sp>
      <p:sp>
        <p:nvSpPr>
          <p:cNvPr id="177" name="Google Shape;177;p20"/>
          <p:cNvSpPr/>
          <p:nvPr/>
        </p:nvSpPr>
        <p:spPr>
          <a:xfrm>
            <a:off x="1083950" y="736800"/>
            <a:ext cx="7419300" cy="431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Proposed MIS Solution: A Framework for Success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structured approach is non-negotiable. We propose a four-stage MIS framework for implementation.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Plan &amp; Select: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Define clear goals, secure executive buy-in, select the right software, and build the project team.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Design &amp; Configure: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Map existing business processes and redesign them to fit the new system. Configure the ERP software to meet business needs.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Test &amp; Train: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Conduct rigorous system testing (unit, integration, user acceptance). Develop and deliver comprehensive training for all users.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Deploy &amp; Support: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Go-live with the new system (preferably in a phased manner). Provide ongoing support and plan for future optimization.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083950" y="228600"/>
            <a:ext cx="73332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The Two Sides of the ERP Coin</a:t>
            </a:r>
            <a:endParaRPr b="1" sz="2000"/>
          </a:p>
        </p:txBody>
      </p:sp>
      <p:sp>
        <p:nvSpPr>
          <p:cNvPr id="183" name="Google Shape;183;p21"/>
          <p:cNvSpPr/>
          <p:nvPr/>
        </p:nvSpPr>
        <p:spPr>
          <a:xfrm>
            <a:off x="1083950" y="736800"/>
            <a:ext cx="7419300" cy="431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Benefits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Improved Efficiency: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Automates and streamlines business processes.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Centralized Information: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 single source of truth eliminates data redundancy.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Better Decision-Making: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Real-time data and reporting provide actionable insights.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Enhanced Collaboration: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All departments work from the same data set.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Scalability: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Supports business growth and expansion.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083950" y="228600"/>
            <a:ext cx="73332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The Two Sides of the ERP Coin</a:t>
            </a:r>
            <a:endParaRPr b="1" sz="2000"/>
          </a:p>
        </p:txBody>
      </p:sp>
      <p:sp>
        <p:nvSpPr>
          <p:cNvPr id="189" name="Google Shape;189;p22"/>
          <p:cNvSpPr/>
          <p:nvPr/>
        </p:nvSpPr>
        <p:spPr>
          <a:xfrm>
            <a:off x="1083950" y="699450"/>
            <a:ext cx="7419300" cy="3744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Limitations &amp; Risks: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High Total Cost: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Significant investment in software, hardware, and consulting services.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Business Disruption: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Implementation can be disruptive to daily operations.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Complexity &amp; Time: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Can take years to fully implement.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Resistance to Change: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Employees may be reluctant to adopt new processes.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AutoNum type="arabicPeriod"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Risk of Failure: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As seen with our case study, failures can have severe financial consequences.</a:t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083950" y="228600"/>
            <a:ext cx="73332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Conclusion: The Keys to Unlocking ERP Value</a:t>
            </a:r>
            <a:endParaRPr b="1" sz="2000"/>
          </a:p>
        </p:txBody>
      </p:sp>
      <p:sp>
        <p:nvSpPr>
          <p:cNvPr id="195" name="Google Shape;195;p23"/>
          <p:cNvSpPr/>
          <p:nvPr/>
        </p:nvSpPr>
        <p:spPr>
          <a:xfrm>
            <a:off x="1083950" y="699450"/>
            <a:ext cx="7419300" cy="3744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Conclusion: Critical Success Factors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Success or failure is not about the software itself, but about the implementation strategy.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Top Management Commitment: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Without leadership buy-in, the project will fail.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Clear Vision &amp; Planning: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Define what you want to achieve and have a realistic plan to get there.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Excellent Project Management: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Manage time, budget, and scope effectively.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 Involvement &amp; Training: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The people who will use the system are the most critical factor.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Phased Rollout &gt; Big Bang:</a:t>
            </a:r>
            <a:r>
              <a:rPr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Mitigate risk by implementing in manageable stages.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Char char="●"/>
            </a:pPr>
            <a:r>
              <a:rPr b="1" lang="en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Focus on the People and Processes, not just the Technology.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1083950" y="494800"/>
            <a:ext cx="7333200" cy="5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References</a:t>
            </a:r>
            <a:endParaRPr b="1" sz="2000"/>
          </a:p>
        </p:txBody>
      </p:sp>
      <p:sp>
        <p:nvSpPr>
          <p:cNvPr id="201" name="Google Shape;201;p24"/>
          <p:cNvSpPr/>
          <p:nvPr/>
        </p:nvSpPr>
        <p:spPr>
          <a:xfrm>
            <a:off x="1040900" y="1041725"/>
            <a:ext cx="7419300" cy="3744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Davenport, T. H. (2000). </a:t>
            </a:r>
            <a:r>
              <a:rPr i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Mission Critical: Realizing the Promise of Enterprise Systems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 Harvard Business School Press.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Umble, E. J., Haft, R. R., &amp; Umble, M. M. (2003). Enterprise resource planning: Implementation procedures and critical success factors. </a:t>
            </a:r>
            <a:r>
              <a:rPr i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European Journal of Operational Research, 146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(2), 241-257.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Laukkanen, S., Sarpola, S., &amp; Hallikainen, P. (2007). Enterprise size and the adoption of ERP: a study on the Finnish manufacturing industry. </a:t>
            </a:r>
            <a:r>
              <a:rPr i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Journal of Enterprise Information Management, 20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(4), 492-511.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Garge, P., &amp; Kedia, S. (2013). An empirical study on critical failure factors for enterprise resource planning implementation in Indian retail sector. </a:t>
            </a:r>
            <a:r>
              <a:rPr i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Business Process Management Journal, 19</a:t>
            </a: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(3), 496-514.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/>
              <a:t>Thank You</a:t>
            </a:r>
            <a:endParaRPr b="1" sz="3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